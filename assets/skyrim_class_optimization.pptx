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78B041E-4975-4CE0-B6C9-BCEC3650B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A53C8F-8082-4DB9-8E65-F32E6A4DE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F3D8139-DCC7-4B20-A2BD-12DA9EB28B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0906B9B-1094-463F-980C-4E1DC9E9D6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3635CC-1D2D-4C88-850C-FF85A94D0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EF9C8AB-0406-4C99-8803-35894B43230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03635CC-1D2D-4C88-850C-FF85A94D0B7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DE8530-4100-494F-8514-B66E5DCB09C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" cy="43338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43ECFA-C397-4416-B74B-D6CCB7F80412}"/>
              </a:ext>
            </a:extLst>
          </p:cNvPr>
          <p:cNvSpPr>
            <a:spLocks noGrp="1"/>
          </p:cNvSpPr>
          <p:nvPr/>
        </p:nvSpPr>
        <p:spPr>
          <a:xfrm>
            <a:off x="819150" y="8382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1">
                <a:solidFill>
                  <a:srgbClr val="D4AF37"/>
                </a:solidFill>
              </a:defRPr>
            </a:pPr>
            <a:r>
              <a:rPr sz="975" b="1">
                <a:solidFill>
                  <a:srgbClr val="D4AF37"/>
                </a:solidFill>
              </a:rPr>
              <a:t>BALANCING SKYRIM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B3C7C-386A-48FD-850C-5404D6144877}"/>
              </a:ext>
            </a:extLst>
          </p:cNvPr>
          <p:cNvSpPr>
            <a:spLocks noGrp="1"/>
          </p:cNvSpPr>
          <p:nvPr/>
        </p:nvSpPr>
        <p:spPr>
          <a:xfrm>
            <a:off x="819150" y="962025"/>
            <a:ext cx="8382000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 dirty="0">
                <a:solidFill>
                  <a:srgbClr val="FFFFFF"/>
                </a:solidFill>
              </a:rPr>
              <a:t>The Mystery of the Hybrid Dominance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6F2400-2C4B-433A-91B5-A0C1F2679826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810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B0B4B8"/>
                </a:solidFill>
              </a:defRPr>
            </a:pPr>
            <a:r>
              <a:rPr sz="1650" b="0" dirty="0">
                <a:highlight>
                  <a:srgbClr val="000000"/>
                </a:highlight>
              </a:rPr>
              <a:t>Why 20,001 players chose expressive complexity over cold strategic efficiency.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8E7D14-A169-4B8C-8859-C0F803EA255C}"/>
              </a:ext>
            </a:extLst>
          </p:cNvPr>
          <p:cNvSpPr>
            <a:spLocks noGrp="1"/>
          </p:cNvSpPr>
          <p:nvPr/>
        </p:nvSpPr>
        <p:spPr>
          <a:xfrm>
            <a:off x="828675" y="4632325"/>
            <a:ext cx="4286250" cy="520699"/>
          </a:xfrm>
          <a:prstGeom prst="roundRect">
            <a:avLst>
              <a:gd name="adj" fmla="val 8696"/>
            </a:avLst>
          </a:prstGeom>
          <a:solidFill>
            <a:srgbClr val="1A1D23">
              <a:alpha val="75294"/>
            </a:srgbClr>
          </a:solidFill>
          <a:ln w="9525">
            <a:solidFill>
              <a:srgbClr val="16191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090EC-55B3-4FE0-AB64-F6C58F3B6874}"/>
              </a:ext>
            </a:extLst>
          </p:cNvPr>
          <p:cNvSpPr>
            <a:spLocks noGrp="1"/>
          </p:cNvSpPr>
          <p:nvPr/>
        </p:nvSpPr>
        <p:spPr>
          <a:xfrm>
            <a:off x="888755" y="4678973"/>
            <a:ext cx="437857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>
                <a:solidFill>
                  <a:srgbClr val="D4AF37"/>
                </a:solidFill>
              </a:defRPr>
            </a:pPr>
            <a:r>
              <a:rPr sz="1800" b="1" dirty="0">
                <a:solidFill>
                  <a:srgbClr val="D4AF37"/>
                </a:solidFill>
              </a:rPr>
              <a:t>Revealing the Behavioral Heart of the RPG</a:t>
            </a:r>
            <a:r>
              <a:rPr lang="en-US" sz="1800" b="1" dirty="0">
                <a:solidFill>
                  <a:srgbClr val="D4AF37"/>
                </a:solidFill>
              </a:rPr>
              <a:t> </a:t>
            </a:r>
            <a:endParaRPr sz="1800" b="1" dirty="0">
              <a:solidFill>
                <a:srgbClr val="D4AF3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F333B0-3708-41A2-9E86-817CB5645DC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750" b="0">
                <a:solidFill>
                  <a:srgbClr val="B0B4B8"/>
                </a:solidFill>
              </a:defRPr>
            </a:pPr>
            <a:r>
              <a:rPr sz="750" b="0">
                <a:solidFill>
                  <a:srgbClr val="B0B4B8"/>
                </a:solidFill>
              </a:rPr>
              <a:t>Behavioral Optimization Model | Strategic Design Portfolio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4DD38-532E-54D9-C764-FBF82991071C}"/>
              </a:ext>
            </a:extLst>
          </p:cNvPr>
          <p:cNvSpPr txBox="1"/>
          <p:nvPr/>
        </p:nvSpPr>
        <p:spPr>
          <a:xfrm>
            <a:off x="676275" y="5624512"/>
            <a:ext cx="3041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Mann Pawar,</a:t>
            </a:r>
          </a:p>
          <a:p>
            <a:r>
              <a:rPr lang="en-US" dirty="0">
                <a:solidFill>
                  <a:schemeClr val="bg1"/>
                </a:solidFill>
              </a:rPr>
              <a:t>MSBA, William and Mary 2026</a:t>
            </a:r>
          </a:p>
        </p:txBody>
      </p:sp>
    </p:spTree>
    <p:extLst>
      <p:ext uri="{BB962C8B-B14F-4D97-AF65-F5344CB8AC3E}">
        <p14:creationId xmlns:p14="http://schemas.microsoft.com/office/powerpoint/2010/main" val="54213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03635CC-1D2D-4C88-850C-FF85A94D0B7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D547967-8AE1-4C11-9894-0539E242C08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1">
                <a:solidFill>
                  <a:srgbClr val="D4AF37"/>
                </a:solidFill>
              </a:defRPr>
            </a:pPr>
            <a:r>
              <a:rPr sz="975" b="1">
                <a:solidFill>
                  <a:srgbClr val="D4AF37"/>
                </a:solidFill>
              </a:rPr>
              <a:t>THE CONUNDRUM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D225C0-73D9-4120-B8A1-7C6DBFF9FECA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>
                <a:solidFill>
                  <a:srgbClr val="B0B4B8"/>
                </a:solidFill>
              </a:defRPr>
            </a:pPr>
            <a:r>
              <a:rPr sz="975" b="0">
                <a:solidFill>
                  <a:srgbClr val="B0B4B8"/>
                </a:solidFill>
              </a:rPr>
              <a:t>02 / 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E7E655-F4E1-41E8-83FF-B8AC1C31F71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Efficiency vs. Expression: The Core Paradox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F805E-F02B-4E29-9D89-F6BA046CEC7C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D4AF37"/>
                </a:solidFill>
              </a:defRPr>
            </a:pPr>
            <a:r>
              <a:rPr sz="1650" b="0" dirty="0">
                <a:solidFill>
                  <a:srgbClr val="D4AF37"/>
                </a:solidFill>
                <a:highlight>
                  <a:srgbClr val="000000"/>
                </a:highlight>
              </a:rPr>
              <a:t>In a game of numbers, why do players pick the </a:t>
            </a:r>
            <a:r>
              <a:rPr b="0" dirty="0">
                <a:solidFill>
                  <a:srgbClr val="D4AF37"/>
                </a:solidFill>
                <a:highlight>
                  <a:srgbClr val="000000"/>
                </a:highlight>
              </a:rPr>
              <a:t>'sub-optimal</a:t>
            </a:r>
            <a:r>
              <a:rPr sz="1650" b="0" dirty="0">
                <a:solidFill>
                  <a:srgbClr val="D4AF37"/>
                </a:solidFill>
                <a:highlight>
                  <a:srgbClr val="000000"/>
                </a:highlight>
              </a:rPr>
              <a:t>' path?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688625-C009-418B-ADEC-F035F3AF3E18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A10F7C-505A-4D0B-8860-94F306E9AA39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38100" cy="28575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11B755-5DF2-42A8-9D85-B49F13CB0C6B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D4AF37"/>
                </a:solidFill>
              </a:defRPr>
            </a:pPr>
            <a:r>
              <a:rPr sz="1400" b="1">
                <a:solidFill>
                  <a:srgbClr val="D4AF37"/>
                </a:solidFill>
              </a:rPr>
              <a:t>STRATEGIC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C7BCBC-F626-44E0-9681-0D95DDCC8E06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29718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We define the 'Perfect Play'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efficiency of each class against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the NPC environment.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75ACD4-0747-43F3-B720-86041D578301}"/>
              </a:ext>
            </a:extLst>
          </p:cNvPr>
          <p:cNvSpPr>
            <a:spLocks noGrp="1"/>
          </p:cNvSpPr>
          <p:nvPr/>
        </p:nvSpPr>
        <p:spPr>
          <a:xfrm>
            <a:off x="4267200" y="295275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0C2EBC-6659-4A55-A564-E3BC59474842}"/>
              </a:ext>
            </a:extLst>
          </p:cNvPr>
          <p:cNvSpPr>
            <a:spLocks noGrp="1"/>
          </p:cNvSpPr>
          <p:nvPr/>
        </p:nvSpPr>
        <p:spPr>
          <a:xfrm>
            <a:off x="4267200" y="3048000"/>
            <a:ext cx="38100" cy="28575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64D965-70CA-475C-9DCC-B84937825505}"/>
              </a:ext>
            </a:extLst>
          </p:cNvPr>
          <p:cNvSpPr>
            <a:spLocks noGrp="1"/>
          </p:cNvSpPr>
          <p:nvPr/>
        </p:nvSpPr>
        <p:spPr>
          <a:xfrm>
            <a:off x="4495800" y="31432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D4AF37"/>
                </a:solidFill>
              </a:defRPr>
            </a:pPr>
            <a:r>
              <a:rPr sz="1400" b="1">
                <a:solidFill>
                  <a:srgbClr val="D4AF37"/>
                </a:solidFill>
              </a:rPr>
              <a:t>HUMAN CHOICE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00DCB3-2E51-4E59-BE5A-DEBE46EB28C1}"/>
              </a:ext>
            </a:extLst>
          </p:cNvPr>
          <p:cNvSpPr>
            <a:spLocks noGrp="1"/>
          </p:cNvSpPr>
          <p:nvPr/>
        </p:nvSpPr>
        <p:spPr>
          <a:xfrm>
            <a:off x="4495800" y="3524250"/>
            <a:ext cx="29718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</a:rPr>
              <a:t>Observed behavior deviates sharply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</a:rPr>
              <a:t>from the theoretical combat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</a:rPr>
              <a:t>optimum.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8476FA-1E6C-4C3F-ADC4-C910BE57BFED}"/>
              </a:ext>
            </a:extLst>
          </p:cNvPr>
          <p:cNvSpPr>
            <a:spLocks noGrp="1"/>
          </p:cNvSpPr>
          <p:nvPr/>
        </p:nvSpPr>
        <p:spPr>
          <a:xfrm>
            <a:off x="7924800" y="295275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41BA47-3D47-416C-89A2-A4F64D9EBEB3}"/>
              </a:ext>
            </a:extLst>
          </p:cNvPr>
          <p:cNvSpPr>
            <a:spLocks noGrp="1"/>
          </p:cNvSpPr>
          <p:nvPr/>
        </p:nvSpPr>
        <p:spPr>
          <a:xfrm>
            <a:off x="7924800" y="3048000"/>
            <a:ext cx="38100" cy="28575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CED159-3074-4427-B904-82E8F1CB3084}"/>
              </a:ext>
            </a:extLst>
          </p:cNvPr>
          <p:cNvSpPr>
            <a:spLocks noGrp="1"/>
          </p:cNvSpPr>
          <p:nvPr/>
        </p:nvSpPr>
        <p:spPr>
          <a:xfrm>
            <a:off x="8153400" y="31432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D4AF37"/>
                </a:solidFill>
              </a:defRPr>
            </a:pPr>
            <a:r>
              <a:rPr sz="1400" b="1">
                <a:solidFill>
                  <a:srgbClr val="D4AF37"/>
                </a:solidFill>
              </a:rPr>
              <a:t>THE HYBRID ANCHOR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31EB07-DFDA-4597-B78D-C5D0A63242A8}"/>
              </a:ext>
            </a:extLst>
          </p:cNvPr>
          <p:cNvSpPr>
            <a:spLocks noGrp="1"/>
          </p:cNvSpPr>
          <p:nvPr/>
        </p:nvSpPr>
        <p:spPr>
          <a:xfrm>
            <a:off x="8153400" y="3524250"/>
            <a:ext cx="29718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We test if data-derived complexity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explains this deviation better than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raw damage stats.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F0BDC5-C67B-4F86-B06E-F2E60A8620E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750" b="0">
                <a:solidFill>
                  <a:srgbClr val="B0B4B8"/>
                </a:solidFill>
              </a:defRPr>
            </a:pPr>
            <a:r>
              <a:rPr sz="750" b="0">
                <a:solidFill>
                  <a:srgbClr val="B0B4B8"/>
                </a:solidFill>
              </a:rPr>
              <a:t>Behavioral Optimization Model | Strategic Design Portfolio</a:t>
            </a:r>
          </a:p>
        </p:txBody>
      </p:sp>
    </p:spTree>
    <p:extLst>
      <p:ext uri="{BB962C8B-B14F-4D97-AF65-F5344CB8AC3E}">
        <p14:creationId xmlns:p14="http://schemas.microsoft.com/office/powerpoint/2010/main" val="1731839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6BB859-92DC-4B56-96ED-134DE6D90F9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1">
                <a:solidFill>
                  <a:srgbClr val="D4AF37"/>
                </a:solidFill>
              </a:defRPr>
            </a:pPr>
            <a:r>
              <a:rPr sz="975" b="1">
                <a:solidFill>
                  <a:srgbClr val="D4AF37"/>
                </a:solidFill>
              </a:rPr>
              <a:t>STRATEGIC ENGINE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43F9C-CA49-4653-BE38-355E372E3689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>
                <a:solidFill>
                  <a:srgbClr val="B0B4B8"/>
                </a:solidFill>
              </a:defRPr>
            </a:pPr>
            <a:r>
              <a:rPr sz="975" b="0">
                <a:solidFill>
                  <a:srgbClr val="B0B4B8"/>
                </a:solidFill>
              </a:rPr>
              <a:t>03 / 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A577D5-5196-49BB-A848-E97437E50EA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9525"/>
          </a:xfrm>
          <a:prstGeom prst="rect">
            <a:avLst/>
          </a:prstGeom>
          <a:solidFill>
            <a:srgbClr val="16191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054B1A-CDB4-4BCE-9774-84141808B09E}"/>
              </a:ext>
            </a:extLst>
          </p:cNvPr>
          <p:cNvSpPr>
            <a:spLocks noGrp="1"/>
          </p:cNvSpPr>
          <p:nvPr/>
        </p:nvSpPr>
        <p:spPr>
          <a:xfrm>
            <a:off x="545123" y="514350"/>
            <a:ext cx="10972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 dirty="0">
                <a:solidFill>
                  <a:srgbClr val="FFFFFF"/>
                </a:solidFill>
              </a:rPr>
              <a:t>Nash Equilibrium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B3FA5D-9FCD-4E19-AB5B-F6FCE7AAF38E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D4AF37"/>
                </a:solidFill>
              </a:defRPr>
            </a:pPr>
            <a:r>
              <a:rPr sz="1650" b="0">
                <a:solidFill>
                  <a:srgbClr val="D4AF37"/>
                </a:solidFill>
              </a:rPr>
              <a:t>Solving for the dominant strategy against a zero-sum NPC gauntlet.</a:t>
            </a:r>
          </a:p>
        </p:txBody>
      </p:sp>
      <p:graphicFrame>
        <p:nvGraphicFramePr>
          <p:cNvPr id="7" name="Table 6"/>
          <p:cNvGraphicFramePr/>
          <p:nvPr>
            <p:extLst>
              <p:ext uri="{D42A27DB-BD31-4B8C-83A1-F6EECF244321}">
                <p14:modId xmlns:p14="http://schemas.microsoft.com/office/powerpoint/2010/main" val="2316027112"/>
              </p:ext>
            </p:extLst>
          </p:nvPr>
        </p:nvGraphicFramePr>
        <p:xfrm>
          <a:off x="609600" y="2095500"/>
          <a:ext cx="7143750" cy="38100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dirty="0"/>
                        <a:t>Archetype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Hybrid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Stealth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Warrior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Hybrid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0.227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0.312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Mage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0.773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0.607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Stealth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Warrior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0.688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0.393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0.500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99917D-90F6-4D3D-89DA-599FC87F71B0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3581400" cy="3810000"/>
          </a:xfrm>
          <a:prstGeom prst="roundRect">
            <a:avLst>
              <a:gd name="adj" fmla="val 2128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62F304-8009-4F18-8DC7-03517ED6F06F}"/>
              </a:ext>
            </a:extLst>
          </p:cNvPr>
          <p:cNvSpPr>
            <a:spLocks noGrp="1"/>
          </p:cNvSpPr>
          <p:nvPr/>
        </p:nvSpPr>
        <p:spPr>
          <a:xfrm>
            <a:off x="8001000" y="2190750"/>
            <a:ext cx="38100" cy="28575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F716D8-3F31-4557-950C-A0C98FEDEA06}"/>
              </a:ext>
            </a:extLst>
          </p:cNvPr>
          <p:cNvSpPr>
            <a:spLocks noGrp="1"/>
          </p:cNvSpPr>
          <p:nvPr/>
        </p:nvSpPr>
        <p:spPr>
          <a:xfrm>
            <a:off x="8229600" y="2286000"/>
            <a:ext cx="312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D4AF37"/>
                </a:solidFill>
              </a:defRPr>
            </a:pPr>
            <a:r>
              <a:rPr sz="1050" b="1">
                <a:solidFill>
                  <a:srgbClr val="D4AF37"/>
                </a:solidFill>
              </a:rPr>
              <a:t>MECHANICAL PROOF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68E1A8-C625-4740-ACD9-D635F940C9FB}"/>
              </a:ext>
            </a:extLst>
          </p:cNvPr>
          <p:cNvSpPr>
            <a:spLocks noGrp="1"/>
          </p:cNvSpPr>
          <p:nvPr/>
        </p:nvSpPr>
        <p:spPr>
          <a:xfrm>
            <a:off x="8229600" y="2667000"/>
            <a:ext cx="31242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The Payoff Matrix (A) represents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the 'Win Ratio' of one archetype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against another. </a:t>
            </a:r>
          </a:p>
          <a:p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Stealth's 3.0x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damage multiplier and range produce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the 0.998 dominance seen in the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zero-sum baseline.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502557-763A-4485-B2F6-E2F6722DF2A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750" b="0">
                <a:solidFill>
                  <a:srgbClr val="B0B4B8"/>
                </a:solidFill>
              </a:defRPr>
            </a:pPr>
            <a:r>
              <a:rPr sz="750" b="0">
                <a:solidFill>
                  <a:srgbClr val="B0B4B8"/>
                </a:solidFill>
              </a:rPr>
              <a:t>Behavioral Optimization Model | Strategic Design Portfolio</a:t>
            </a:r>
          </a:p>
        </p:txBody>
      </p:sp>
    </p:spTree>
    <p:extLst>
      <p:ext uri="{BB962C8B-B14F-4D97-AF65-F5344CB8AC3E}">
        <p14:creationId xmlns:p14="http://schemas.microsoft.com/office/powerpoint/2010/main" val="2078887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03635CC-1D2D-4C88-850C-FF85A94D0B7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D490E2-98BE-4400-8B8E-675D8903412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1">
                <a:solidFill>
                  <a:srgbClr val="D4AF37"/>
                </a:solidFill>
              </a:defRPr>
            </a:pPr>
            <a:r>
              <a:rPr sz="975" b="1">
                <a:solidFill>
                  <a:srgbClr val="D4AF37"/>
                </a:solidFill>
              </a:rPr>
              <a:t>COGNITIVE FRICTION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20BDAC-7DD0-4779-95D8-7CB79335E5F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>
                <a:solidFill>
                  <a:srgbClr val="B0B4B8"/>
                </a:solidFill>
              </a:defRPr>
            </a:pPr>
            <a:r>
              <a:rPr sz="975" b="0">
                <a:solidFill>
                  <a:srgbClr val="B0B4B8"/>
                </a:solidFill>
              </a:rPr>
              <a:t>04 /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8FFAB6-863C-4602-9C1F-8DC5EC2ADAE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9525"/>
          </a:xfrm>
          <a:prstGeom prst="rect">
            <a:avLst/>
          </a:prstGeom>
          <a:solidFill>
            <a:srgbClr val="16191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0FEC81-26AE-4960-A84B-8CDF3870970E}"/>
              </a:ext>
            </a:extLst>
          </p:cNvPr>
          <p:cNvSpPr>
            <a:spLocks noGrp="1"/>
          </p:cNvSpPr>
          <p:nvPr/>
        </p:nvSpPr>
        <p:spPr>
          <a:xfrm>
            <a:off x="609600" y="760277"/>
            <a:ext cx="10972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 dirty="0">
                <a:solidFill>
                  <a:srgbClr val="FFFFFF"/>
                </a:solidFill>
              </a:rPr>
              <a:t>The Efficiency-Reality Gap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844E0-930F-411D-8034-B04D9BA5684B}"/>
              </a:ext>
            </a:extLst>
          </p:cNvPr>
          <p:cNvSpPr>
            <a:spLocks noGrp="1"/>
          </p:cNvSpPr>
          <p:nvPr/>
        </p:nvSpPr>
        <p:spPr>
          <a:xfrm>
            <a:off x="609600" y="1369218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D4AF37"/>
                </a:solidFill>
              </a:defRPr>
            </a:pPr>
            <a:r>
              <a:rPr sz="1650" b="0">
                <a:solidFill>
                  <a:srgbClr val="D4AF37"/>
                </a:solidFill>
                <a:highlight>
                  <a:srgbClr val="000000"/>
                </a:highlight>
              </a:rPr>
              <a:t>Nash baseline predicts 100% Stealth concentration. Real players reject this.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3615" y="1719262"/>
            <a:ext cx="7295662" cy="43773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8A6FC2B-715E-4881-AA32-E14ADEFBAE1A}"/>
              </a:ext>
            </a:extLst>
          </p:cNvPr>
          <p:cNvSpPr>
            <a:spLocks noGrp="1"/>
          </p:cNvSpPr>
          <p:nvPr/>
        </p:nvSpPr>
        <p:spPr>
          <a:xfrm>
            <a:off x="8682893" y="3013686"/>
            <a:ext cx="2700216" cy="234394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>
                <a:solidFill>
                  <a:srgbClr val="D4AF37"/>
                </a:solidFill>
              </a:defRPr>
            </a:pPr>
            <a:r>
              <a:rPr sz="1600" b="0" dirty="0">
                <a:solidFill>
                  <a:srgbClr val="D4AF37"/>
                </a:solidFill>
                <a:highlight>
                  <a:srgbClr val="000000"/>
                </a:highlight>
              </a:rPr>
              <a:t>Notice the massive deviation: </a:t>
            </a:r>
            <a:endParaRPr lang="en-US" sz="1600" b="0" dirty="0">
              <a:solidFill>
                <a:srgbClr val="D4AF37"/>
              </a:solidFill>
              <a:highlight>
                <a:srgbClr val="000000"/>
              </a:highlight>
            </a:endParaRPr>
          </a:p>
          <a:p>
            <a:pPr algn="ctr">
              <a:defRPr sz="1050" b="0">
                <a:solidFill>
                  <a:srgbClr val="D4AF37"/>
                </a:solidFill>
              </a:defRPr>
            </a:pPr>
            <a:r>
              <a:rPr sz="1600" b="0" dirty="0">
                <a:solidFill>
                  <a:srgbClr val="D4AF37"/>
                </a:solidFill>
                <a:highlight>
                  <a:srgbClr val="000000"/>
                </a:highlight>
              </a:rPr>
              <a:t>Nash predicts total Stealth concentration, but players overwhelmingly favor the Hybrid variety.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4B0407-E5EB-4D34-9C82-56E089DCF85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750" b="0">
                <a:solidFill>
                  <a:srgbClr val="B0B4B8"/>
                </a:solidFill>
              </a:defRPr>
            </a:pPr>
            <a:r>
              <a:rPr sz="750" b="0">
                <a:solidFill>
                  <a:srgbClr val="B0B4B8"/>
                </a:solidFill>
              </a:rPr>
              <a:t>Behavioral Optimization Model | Strategic Design Portfolio</a:t>
            </a:r>
          </a:p>
        </p:txBody>
      </p:sp>
    </p:spTree>
    <p:extLst>
      <p:ext uri="{BB962C8B-B14F-4D97-AF65-F5344CB8AC3E}">
        <p14:creationId xmlns:p14="http://schemas.microsoft.com/office/powerpoint/2010/main" val="429607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022C55-F6F9-4AD0-B90E-E40522CD990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1">
                <a:solidFill>
                  <a:srgbClr val="D4AF37"/>
                </a:solidFill>
              </a:defRPr>
            </a:pPr>
            <a:r>
              <a:rPr sz="975" b="1">
                <a:solidFill>
                  <a:srgbClr val="D4AF37"/>
                </a:solidFill>
              </a:rPr>
              <a:t>THE BREAKTHROUGH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248EF1-0DD7-4FDE-97FB-78BE823582BE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>
                <a:solidFill>
                  <a:srgbClr val="B0B4B8"/>
                </a:solidFill>
              </a:defRPr>
            </a:pPr>
            <a:r>
              <a:rPr sz="975" b="0">
                <a:solidFill>
                  <a:srgbClr val="B0B4B8"/>
                </a:solidFill>
              </a:rPr>
              <a:t>05 / 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53D1ED-200B-4782-801D-16480A40F29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9525"/>
          </a:xfrm>
          <a:prstGeom prst="rect">
            <a:avLst/>
          </a:prstGeom>
          <a:solidFill>
            <a:srgbClr val="16191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AC8B80-716A-40EC-BF87-BF60F665963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Rarefied Expressive Complexity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863E1-C950-42DE-B8FA-71C877D93B1C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D4AF37"/>
                </a:solidFill>
              </a:defRPr>
            </a:pPr>
            <a:r>
              <a:rPr sz="1650" b="0" dirty="0">
                <a:solidFill>
                  <a:srgbClr val="D4AF37"/>
                </a:solidFill>
              </a:rPr>
              <a:t>Deriving the value of 'variety' directly from 20,001 build hashes.</a:t>
            </a:r>
            <a:endParaRPr lang="en-US" sz="1650" b="0" dirty="0">
              <a:solidFill>
                <a:srgbClr val="D4AF37"/>
              </a:solidFill>
            </a:endParaRPr>
          </a:p>
          <a:p>
            <a:pPr algn="l">
              <a:defRPr sz="1650" b="0">
                <a:solidFill>
                  <a:srgbClr val="D4AF37"/>
                </a:solidFill>
              </a:defRPr>
            </a:pPr>
            <a:endParaRPr lang="en-US" sz="1650" b="0" dirty="0">
              <a:solidFill>
                <a:srgbClr val="D4AF37"/>
              </a:solidFill>
            </a:endParaRPr>
          </a:p>
          <a:p>
            <a:pPr>
              <a:defRPr sz="1650" b="0">
                <a:solidFill>
                  <a:srgbClr val="D4AF37"/>
                </a:solidFill>
              </a:defRPr>
            </a:pPr>
            <a:r>
              <a:rPr lang="en-US" sz="1650" dirty="0"/>
              <a:t>We calculate rarefied complexity by subsampling a fixed group of 2,000 players from each archetype and measuring the ratio of unique build combinations within that specific sample. </a:t>
            </a:r>
            <a:endParaRPr sz="1650" b="0" dirty="0">
              <a:solidFill>
                <a:srgbClr val="D4AF37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DD4005-754E-4406-A8FA-35E1E5D921B7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3429000" cy="1905000"/>
          </a:xfrm>
          <a:prstGeom prst="roundRect">
            <a:avLst>
              <a:gd name="adj" fmla="val 4000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06EA6-631F-4A9D-8F84-2109DE09EB92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297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150" b="1">
                <a:solidFill>
                  <a:srgbClr val="D4AF37"/>
                </a:solidFill>
              </a:defRPr>
            </a:pPr>
            <a:r>
              <a:rPr sz="3150" b="1">
                <a:solidFill>
                  <a:srgbClr val="D4AF37"/>
                </a:solidFill>
              </a:rPr>
              <a:t>58.6%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C362D-3E43-4A6A-AA38-6C9B342D036B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2971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Hybrid Uniqueness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3F8217-2FAD-481D-B55C-D44F49E96C90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297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>
                <a:solidFill>
                  <a:srgbClr val="B0B4B8"/>
                </a:solidFill>
              </a:defRPr>
            </a:pPr>
            <a:r>
              <a:rPr sz="1050" b="0" dirty="0">
                <a:solidFill>
                  <a:srgbClr val="B0B4B8"/>
                </a:solidFill>
              </a:rPr>
              <a:t>Discovery Space</a:t>
            </a:r>
            <a:endParaRPr lang="en-US" sz="1050" b="0" dirty="0">
              <a:solidFill>
                <a:srgbClr val="B0B4B8"/>
              </a:solidFill>
            </a:endParaRPr>
          </a:p>
          <a:p>
            <a:pPr>
              <a:defRPr sz="1050" b="0">
                <a:solidFill>
                  <a:srgbClr val="B0B4B8"/>
                </a:solidFill>
              </a:defRPr>
            </a:pPr>
            <a:r>
              <a:rPr lang="en-US" sz="1050" dirty="0"/>
              <a:t>Players aren't failing to optimize for combat; they are </a:t>
            </a:r>
            <a:r>
              <a:rPr lang="en-US" sz="1050" b="1" dirty="0"/>
              <a:t>successfully optimizing for variety.</a:t>
            </a:r>
            <a:endParaRPr sz="1050" b="0" dirty="0">
              <a:solidFill>
                <a:srgbClr val="B0B4B8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F4B8AD-162F-4DAE-A910-2EF3D76B3799}"/>
              </a:ext>
            </a:extLst>
          </p:cNvPr>
          <p:cNvSpPr>
            <a:spLocks noGrp="1"/>
          </p:cNvSpPr>
          <p:nvPr/>
        </p:nvSpPr>
        <p:spPr>
          <a:xfrm>
            <a:off x="4267200" y="2952750"/>
            <a:ext cx="3429000" cy="1905000"/>
          </a:xfrm>
          <a:prstGeom prst="roundRect">
            <a:avLst>
              <a:gd name="adj" fmla="val 4000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96EFF-2FF1-4CD4-8A8D-B2297C7A3441}"/>
              </a:ext>
            </a:extLst>
          </p:cNvPr>
          <p:cNvSpPr>
            <a:spLocks noGrp="1"/>
          </p:cNvSpPr>
          <p:nvPr/>
        </p:nvSpPr>
        <p:spPr>
          <a:xfrm>
            <a:off x="4495800" y="3181350"/>
            <a:ext cx="297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150" b="1">
                <a:solidFill>
                  <a:srgbClr val="D4AF37"/>
                </a:solidFill>
              </a:defRPr>
            </a:pPr>
            <a:r>
              <a:rPr sz="3150" b="1">
                <a:solidFill>
                  <a:srgbClr val="D4AF37"/>
                </a:solidFill>
              </a:rPr>
              <a:t>27.3%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904B28-CE08-48A3-93C6-7AD4EACD884E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2971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Warrior Uniqueness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011F3-60FF-4271-A4FB-C04C88274E13}"/>
              </a:ext>
            </a:extLst>
          </p:cNvPr>
          <p:cNvSpPr>
            <a:spLocks noGrp="1"/>
          </p:cNvSpPr>
          <p:nvPr/>
        </p:nvSpPr>
        <p:spPr>
          <a:xfrm>
            <a:off x="4495800" y="4038600"/>
            <a:ext cx="297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>
                <a:solidFill>
                  <a:srgbClr val="B0B4B8"/>
                </a:solidFill>
              </a:defRPr>
            </a:pPr>
            <a:r>
              <a:rPr sz="1050" b="0" dirty="0">
                <a:solidFill>
                  <a:srgbClr val="B0B4B8"/>
                </a:solidFill>
              </a:rPr>
              <a:t>Redundant Path</a:t>
            </a:r>
            <a:endParaRPr lang="en-US" sz="1050" b="0" dirty="0">
              <a:solidFill>
                <a:srgbClr val="B0B4B8"/>
              </a:solidFill>
            </a:endParaRPr>
          </a:p>
          <a:p>
            <a:pPr>
              <a:defRPr sz="1050" b="0">
                <a:solidFill>
                  <a:srgbClr val="B0B4B8"/>
                </a:solidFill>
              </a:defRPr>
            </a:pPr>
            <a:r>
              <a:rPr lang="en-US" sz="1050" dirty="0"/>
              <a:t>Most are following the same Redundant Path (e.g., One-Handed + Shield + Heavy Armor).</a:t>
            </a:r>
            <a:endParaRPr sz="1050" b="0" dirty="0">
              <a:solidFill>
                <a:srgbClr val="B0B4B8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5BF765-512D-44F1-A021-E18EEDA68797}"/>
              </a:ext>
            </a:extLst>
          </p:cNvPr>
          <p:cNvSpPr>
            <a:spLocks noGrp="1"/>
          </p:cNvSpPr>
          <p:nvPr/>
        </p:nvSpPr>
        <p:spPr>
          <a:xfrm>
            <a:off x="7924800" y="2952750"/>
            <a:ext cx="3429000" cy="1905000"/>
          </a:xfrm>
          <a:prstGeom prst="roundRect">
            <a:avLst>
              <a:gd name="adj" fmla="val 4000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C82796-34E3-45E4-9459-3551729AB10F}"/>
              </a:ext>
            </a:extLst>
          </p:cNvPr>
          <p:cNvSpPr>
            <a:spLocks noGrp="1"/>
          </p:cNvSpPr>
          <p:nvPr/>
        </p:nvSpPr>
        <p:spPr>
          <a:xfrm>
            <a:off x="8153400" y="3181350"/>
            <a:ext cx="297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150" b="1">
                <a:solidFill>
                  <a:srgbClr val="D4AF37"/>
                </a:solidFill>
              </a:defRPr>
            </a:pPr>
            <a:r>
              <a:rPr sz="3150" b="1">
                <a:solidFill>
                  <a:srgbClr val="D4AF37"/>
                </a:solidFill>
              </a:rPr>
              <a:t>2x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6947B2-CCF3-48D8-AF55-A156B0494A2F}"/>
              </a:ext>
            </a:extLst>
          </p:cNvPr>
          <p:cNvSpPr>
            <a:spLocks noGrp="1"/>
          </p:cNvSpPr>
          <p:nvPr/>
        </p:nvSpPr>
        <p:spPr>
          <a:xfrm>
            <a:off x="8153400" y="3752850"/>
            <a:ext cx="2971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Complexity Multiplier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450B7C-23A7-410A-9A6F-6CE7985BA0E7}"/>
              </a:ext>
            </a:extLst>
          </p:cNvPr>
          <p:cNvSpPr>
            <a:spLocks noGrp="1"/>
          </p:cNvSpPr>
          <p:nvPr/>
        </p:nvSpPr>
        <p:spPr>
          <a:xfrm>
            <a:off x="8153400" y="4038600"/>
            <a:ext cx="297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>
                <a:solidFill>
                  <a:srgbClr val="B0B4B8"/>
                </a:solidFill>
              </a:defRPr>
            </a:pPr>
            <a:r>
              <a:rPr sz="1050" b="0" dirty="0">
                <a:solidFill>
                  <a:srgbClr val="B0B4B8"/>
                </a:solidFill>
              </a:rPr>
              <a:t>Hybrid vs Others</a:t>
            </a:r>
            <a:endParaRPr lang="en-US" sz="1050" b="0" dirty="0">
              <a:solidFill>
                <a:srgbClr val="B0B4B8"/>
              </a:solidFill>
            </a:endParaRPr>
          </a:p>
          <a:p>
            <a:pPr>
              <a:defRPr sz="1050" b="0">
                <a:solidFill>
                  <a:srgbClr val="B0B4B8"/>
                </a:solidFill>
              </a:defRPr>
            </a:pPr>
            <a:r>
              <a:rPr lang="en-US" sz="1050" dirty="0"/>
              <a:t>Data proves that a Hybrid player is </a:t>
            </a:r>
            <a:r>
              <a:rPr lang="en-US" sz="1050" b="1" dirty="0"/>
              <a:t>twice as likely</a:t>
            </a:r>
            <a:r>
              <a:rPr lang="en-US" sz="1050" dirty="0"/>
              <a:t> to be exploring a unique systemic niche compared to any other archetype.</a:t>
            </a:r>
            <a:endParaRPr sz="1050" b="0" dirty="0">
              <a:solidFill>
                <a:srgbClr val="B0B4B8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FBB2DF-A6B6-4DB6-857B-C15BAB37AFF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750" b="0">
                <a:solidFill>
                  <a:srgbClr val="B0B4B8"/>
                </a:solidFill>
              </a:defRPr>
            </a:pPr>
            <a:r>
              <a:rPr sz="750" b="0">
                <a:solidFill>
                  <a:srgbClr val="B0B4B8"/>
                </a:solidFill>
              </a:rPr>
              <a:t>Behavioral Optimization Model | Strategic Design Portfolio</a:t>
            </a:r>
          </a:p>
        </p:txBody>
      </p:sp>
    </p:spTree>
    <p:extLst>
      <p:ext uri="{BB962C8B-B14F-4D97-AF65-F5344CB8AC3E}">
        <p14:creationId xmlns:p14="http://schemas.microsoft.com/office/powerpoint/2010/main" val="116869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1FB644-7D61-4293-AA56-BC131B8C11A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1">
                <a:solidFill>
                  <a:srgbClr val="D4AF37"/>
                </a:solidFill>
              </a:defRPr>
            </a:pPr>
            <a:r>
              <a:rPr sz="975" b="1">
                <a:solidFill>
                  <a:srgbClr val="D4AF37"/>
                </a:solidFill>
              </a:rPr>
              <a:t>REVERSE OPTIMIZATION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36C0B1-E903-4C23-A1B4-72C538A10E7D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>
                <a:solidFill>
                  <a:srgbClr val="B0B4B8"/>
                </a:solidFill>
              </a:defRPr>
            </a:pPr>
            <a:r>
              <a:rPr sz="975" b="0">
                <a:solidFill>
                  <a:srgbClr val="B0B4B8"/>
                </a:solidFill>
              </a:rPr>
              <a:t>06 / 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BAD4D2-CDAB-47CC-B6BB-5BDA76C69F6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9525"/>
          </a:xfrm>
          <a:prstGeom prst="rect">
            <a:avLst/>
          </a:prstGeom>
          <a:solidFill>
            <a:srgbClr val="16191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33729C-8FC5-4A78-8FDE-302A2F9B5BF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Calibrating the Behavioral Heart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7E500-A04F-40D4-A76D-15470A7CD7AD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D4AF37"/>
                </a:solidFill>
              </a:defRPr>
            </a:pPr>
            <a:r>
              <a:rPr sz="1650" b="0">
                <a:solidFill>
                  <a:srgbClr val="D4AF37"/>
                </a:solidFill>
              </a:rPr>
              <a:t>Reverse-calculating the weight of complexity through Alpha-Sweep optimization.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AD8960-E620-429B-8A8A-D69855CDBC1B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DFDEED-5386-4C84-9CFA-2426D5832E5F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38100" cy="28575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F8CDC3-DBF0-43E9-9A03-0569A000A2B4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D4AF37"/>
                </a:solidFill>
              </a:defRPr>
            </a:pPr>
            <a:r>
              <a:rPr sz="1050" b="1">
                <a:solidFill>
                  <a:srgbClr val="D4AF37"/>
                </a:solidFill>
              </a:rPr>
              <a:t>OBJECTIVE FUNCTION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E07BA2-5C1E-406D-9170-2A7F727ECE19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29718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Blend combat efficiency and build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uniqueness into a unified value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term.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E942E8-9CBA-47BE-8480-51BF66DBA2B1}"/>
              </a:ext>
            </a:extLst>
          </p:cNvPr>
          <p:cNvSpPr>
            <a:spLocks noGrp="1"/>
          </p:cNvSpPr>
          <p:nvPr/>
        </p:nvSpPr>
        <p:spPr>
          <a:xfrm>
            <a:off x="4267200" y="295275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D41F27-FB6D-4130-9362-B368564477FC}"/>
              </a:ext>
            </a:extLst>
          </p:cNvPr>
          <p:cNvSpPr>
            <a:spLocks noGrp="1"/>
          </p:cNvSpPr>
          <p:nvPr/>
        </p:nvSpPr>
        <p:spPr>
          <a:xfrm>
            <a:off x="4267200" y="3048000"/>
            <a:ext cx="38100" cy="28575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AC1018-35C5-470A-A754-1853692A6C41}"/>
              </a:ext>
            </a:extLst>
          </p:cNvPr>
          <p:cNvSpPr>
            <a:spLocks noGrp="1"/>
          </p:cNvSpPr>
          <p:nvPr/>
        </p:nvSpPr>
        <p:spPr>
          <a:xfrm>
            <a:off x="4495800" y="31432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D4AF37"/>
                </a:solidFill>
              </a:defRPr>
            </a:pPr>
            <a:r>
              <a:rPr sz="1050" b="1">
                <a:solidFill>
                  <a:srgbClr val="D4AF37"/>
                </a:solidFill>
              </a:rPr>
              <a:t>ALPHA RECOVERY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FFDBD8-BB23-48B8-9D5F-35E988C5C26B}"/>
              </a:ext>
            </a:extLst>
          </p:cNvPr>
          <p:cNvSpPr>
            <a:spLocks noGrp="1"/>
          </p:cNvSpPr>
          <p:nvPr/>
        </p:nvSpPr>
        <p:spPr>
          <a:xfrm>
            <a:off x="4495800" y="3524250"/>
            <a:ext cx="29718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Sweep alpha from 0 to 1 to find the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point where model error is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minimized.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BBE3B8-7648-4F4B-AD83-A0690CA9ED5B}"/>
              </a:ext>
            </a:extLst>
          </p:cNvPr>
          <p:cNvSpPr>
            <a:spLocks noGrp="1"/>
          </p:cNvSpPr>
          <p:nvPr/>
        </p:nvSpPr>
        <p:spPr>
          <a:xfrm>
            <a:off x="7924800" y="295275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75B83F-AF3A-4C3A-9A50-B8EB14CCF9E5}"/>
              </a:ext>
            </a:extLst>
          </p:cNvPr>
          <p:cNvSpPr>
            <a:spLocks noGrp="1"/>
          </p:cNvSpPr>
          <p:nvPr/>
        </p:nvSpPr>
        <p:spPr>
          <a:xfrm>
            <a:off x="7924800" y="3048000"/>
            <a:ext cx="38100" cy="28575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D5CE0F-7AD5-41EE-8E74-FA224E1A60A3}"/>
              </a:ext>
            </a:extLst>
          </p:cNvPr>
          <p:cNvSpPr>
            <a:spLocks noGrp="1"/>
          </p:cNvSpPr>
          <p:nvPr/>
        </p:nvSpPr>
        <p:spPr>
          <a:xfrm>
            <a:off x="8153400" y="31432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D4AF37"/>
                </a:solidFill>
              </a:defRPr>
            </a:pPr>
            <a:r>
              <a:rPr sz="1050" b="1">
                <a:solidFill>
                  <a:srgbClr val="D4AF37"/>
                </a:solidFill>
              </a:rPr>
              <a:t>THE WEIGHT OF FUN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A49865-BF3C-4A8E-951E-F9C69EF79EE3}"/>
              </a:ext>
            </a:extLst>
          </p:cNvPr>
          <p:cNvSpPr>
            <a:spLocks noGrp="1"/>
          </p:cNvSpPr>
          <p:nvPr/>
        </p:nvSpPr>
        <p:spPr>
          <a:xfrm>
            <a:off x="8153400" y="3524250"/>
            <a:ext cx="29718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Result: Players value complexity at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a 0.37 weight</a:t>
            </a:r>
            <a:r>
              <a:rPr lang="en-US" sz="1200" b="0" dirty="0">
                <a:solidFill>
                  <a:srgbClr val="FFFFFF"/>
                </a:solidFill>
              </a:rPr>
              <a:t>. Thi</a:t>
            </a:r>
            <a:r>
              <a:rPr lang="en-US" sz="1200" dirty="0">
                <a:solidFill>
                  <a:srgbClr val="FFFFFF"/>
                </a:solidFill>
              </a:rPr>
              <a:t>s is </a:t>
            </a:r>
            <a:r>
              <a:rPr sz="1200" b="0" dirty="0">
                <a:solidFill>
                  <a:srgbClr val="FFFFFF"/>
                </a:solidFill>
              </a:rPr>
              <a:t>a critical design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signal.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6609A8-B9A7-4638-8AC7-2A9C58BC26C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750" b="0">
                <a:solidFill>
                  <a:srgbClr val="B0B4B8"/>
                </a:solidFill>
              </a:defRPr>
            </a:pPr>
            <a:r>
              <a:rPr sz="750" b="0">
                <a:solidFill>
                  <a:srgbClr val="B0B4B8"/>
                </a:solidFill>
              </a:rPr>
              <a:t>Behavioral Optimization Model | Strategic Design Portfolio</a:t>
            </a:r>
          </a:p>
        </p:txBody>
      </p:sp>
    </p:spTree>
    <p:extLst>
      <p:ext uri="{BB962C8B-B14F-4D97-AF65-F5344CB8AC3E}">
        <p14:creationId xmlns:p14="http://schemas.microsoft.com/office/powerpoint/2010/main" val="165792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C3944A-387E-43A7-85AB-3F2CDFBEA53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1">
                <a:solidFill>
                  <a:srgbClr val="D4AF37"/>
                </a:solidFill>
              </a:defRPr>
            </a:pPr>
            <a:r>
              <a:rPr sz="975" b="1">
                <a:solidFill>
                  <a:srgbClr val="D4AF37"/>
                </a:solidFill>
              </a:rPr>
              <a:t>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206D6-09FF-4E58-A6A1-2C630BCE506A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>
                <a:solidFill>
                  <a:srgbClr val="B0B4B8"/>
                </a:solidFill>
              </a:defRPr>
            </a:pPr>
            <a:r>
              <a:rPr sz="975" b="0">
                <a:solidFill>
                  <a:srgbClr val="B0B4B8"/>
                </a:solidFill>
              </a:rPr>
              <a:t>07 / 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38EE13-D394-4277-97CF-B4DB9F8FDC3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9525"/>
          </a:xfrm>
          <a:prstGeom prst="rect">
            <a:avLst/>
          </a:prstGeom>
          <a:solidFill>
            <a:srgbClr val="16191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B2A03-261E-4256-BB2A-20113B37310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Closing the Strategic Gap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D0D2C1-DE75-4233-8785-CABC478D39B6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D4AF37"/>
                </a:solidFill>
              </a:defRPr>
            </a:pPr>
            <a:r>
              <a:rPr sz="1650" b="0">
                <a:solidFill>
                  <a:srgbClr val="D4AF37"/>
                </a:solidFill>
              </a:rPr>
              <a:t>The behavioral model finally captures the true mechanics of player motivation.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2841" y="1866900"/>
            <a:ext cx="7090020" cy="42540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86357A-6B76-4582-B5C8-7BFD7780B1D4}"/>
              </a:ext>
            </a:extLst>
          </p:cNvPr>
          <p:cNvSpPr>
            <a:spLocks noGrp="1"/>
          </p:cNvSpPr>
          <p:nvPr/>
        </p:nvSpPr>
        <p:spPr>
          <a:xfrm>
            <a:off x="8809893" y="2670664"/>
            <a:ext cx="2277207" cy="137379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>
                <a:solidFill>
                  <a:srgbClr val="D4AF37"/>
                </a:solidFill>
              </a:defRPr>
            </a:pPr>
            <a:r>
              <a:rPr sz="1600" b="0" dirty="0">
                <a:solidFill>
                  <a:srgbClr val="D4AF37"/>
                </a:solidFill>
              </a:rPr>
              <a:t>By incorporating 'Rarefied Complexity' as an objective, the model (Blue) successfully recovers the Hybrid-majority structure.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C342F-CB6F-4373-9314-8B3C8C79563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750" b="0">
                <a:solidFill>
                  <a:srgbClr val="B0B4B8"/>
                </a:solidFill>
              </a:defRPr>
            </a:pPr>
            <a:r>
              <a:rPr sz="750" b="0">
                <a:solidFill>
                  <a:srgbClr val="B0B4B8"/>
                </a:solidFill>
              </a:rPr>
              <a:t>Behavioral Optimization Model | Strategic Design Portfolio</a:t>
            </a:r>
          </a:p>
        </p:txBody>
      </p:sp>
    </p:spTree>
    <p:extLst>
      <p:ext uri="{BB962C8B-B14F-4D97-AF65-F5344CB8AC3E}">
        <p14:creationId xmlns:p14="http://schemas.microsoft.com/office/powerpoint/2010/main" val="448871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03635CC-1D2D-4C88-850C-FF85A94D0B7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68A3F2C-45A9-4996-B353-40B8921B8B3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1">
                <a:solidFill>
                  <a:srgbClr val="D4AF37"/>
                </a:solidFill>
              </a:defRPr>
            </a:pPr>
            <a:r>
              <a:rPr sz="975" b="1">
                <a:solidFill>
                  <a:srgbClr val="D4AF37"/>
                </a:solidFill>
              </a:rPr>
              <a:t>THE SOUL OF PLAY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4EAB65-9415-4844-BCB7-570D43BBA5C8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>
                <a:solidFill>
                  <a:srgbClr val="B0B4B8"/>
                </a:solidFill>
              </a:defRPr>
            </a:pPr>
            <a:r>
              <a:rPr sz="975" b="0">
                <a:solidFill>
                  <a:srgbClr val="B0B4B8"/>
                </a:solidFill>
              </a:rPr>
              <a:t>08 /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FA30-59A7-4EE7-AF55-961976900BD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9525"/>
          </a:xfrm>
          <a:prstGeom prst="rect">
            <a:avLst/>
          </a:prstGeom>
          <a:solidFill>
            <a:srgbClr val="16191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84F59B-5955-4823-8260-9235E2EC4940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 dirty="0">
                <a:solidFill>
                  <a:srgbClr val="FFFFFF"/>
                </a:solidFill>
              </a:rPr>
              <a:t>Mastery and Memory in the Tundra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851E55-F31F-496D-BAEB-C6CFB903EAC5}"/>
              </a:ext>
            </a:extLst>
          </p:cNvPr>
          <p:cNvSpPr>
            <a:spLocks noGrp="1"/>
          </p:cNvSpPr>
          <p:nvPr/>
        </p:nvSpPr>
        <p:spPr>
          <a:xfrm>
            <a:off x="609600" y="1312863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D4AF37"/>
                </a:solidFill>
              </a:defRPr>
            </a:pPr>
            <a:r>
              <a:rPr sz="2000" b="0" dirty="0">
                <a:solidFill>
                  <a:srgbClr val="D4AF37"/>
                </a:solidFill>
                <a:highlight>
                  <a:srgbClr val="000000"/>
                </a:highlight>
              </a:rPr>
              <a:t>Final recommendations for the next generation of RPG design.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7CCADC-52AB-4B25-A0C9-3ACEFA8A8701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303E5E-1C5D-4715-AAEE-D2B805F7D72F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38100" cy="28575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904CE6-BF9F-4FAE-B47B-FEF522ED9231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D4AF37"/>
                </a:solidFill>
              </a:defRPr>
            </a:pPr>
            <a:r>
              <a:rPr sz="1050" b="1">
                <a:solidFill>
                  <a:srgbClr val="D4AF37"/>
                </a:solidFill>
              </a:rPr>
              <a:t>DESIGN LOOP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742CD-B3A1-4D08-97AC-5C4CBABE9CAA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29718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Balance for situational friction, 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not just raw damage nerfs.</a:t>
            </a:r>
            <a:r>
              <a:rPr lang="en-US" sz="1200" b="0" dirty="0">
                <a:solidFill>
                  <a:srgbClr val="FFFFFF"/>
                </a:solidFill>
              </a:rPr>
              <a:t> </a:t>
            </a:r>
            <a:r>
              <a:rPr lang="en-US" sz="1200" dirty="0"/>
              <a:t>It balances the game by increasing the </a:t>
            </a:r>
            <a:r>
              <a:rPr lang="en-US" sz="1200" i="1" dirty="0"/>
              <a:t>need for variety</a:t>
            </a:r>
            <a:r>
              <a:rPr lang="en-US" sz="1200" dirty="0"/>
              <a:t> rather than just decreasing a number.</a:t>
            </a:r>
            <a:r>
              <a:rPr sz="1200" b="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F81A89-DF92-4F03-B53B-1BCE78B6B3B7}"/>
              </a:ext>
            </a:extLst>
          </p:cNvPr>
          <p:cNvSpPr>
            <a:spLocks noGrp="1"/>
          </p:cNvSpPr>
          <p:nvPr/>
        </p:nvSpPr>
        <p:spPr>
          <a:xfrm>
            <a:off x="4267200" y="295275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E6703B-CCE0-42EB-B6B0-F376A80B8FC4}"/>
              </a:ext>
            </a:extLst>
          </p:cNvPr>
          <p:cNvSpPr>
            <a:spLocks noGrp="1"/>
          </p:cNvSpPr>
          <p:nvPr/>
        </p:nvSpPr>
        <p:spPr>
          <a:xfrm>
            <a:off x="4267200" y="3048000"/>
            <a:ext cx="38100" cy="28575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C5A6CD-CEB1-4770-8389-B12862931962}"/>
              </a:ext>
            </a:extLst>
          </p:cNvPr>
          <p:cNvSpPr>
            <a:spLocks noGrp="1"/>
          </p:cNvSpPr>
          <p:nvPr/>
        </p:nvSpPr>
        <p:spPr>
          <a:xfrm>
            <a:off x="4495800" y="31432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D4AF37"/>
                </a:solidFill>
              </a:defRPr>
            </a:pPr>
            <a:r>
              <a:rPr sz="1050" b="1">
                <a:solidFill>
                  <a:srgbClr val="D4AF37"/>
                </a:solidFill>
              </a:rPr>
              <a:t>AI EVOLUTION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47884E-3CEE-4BE2-9C2D-897E56484406}"/>
              </a:ext>
            </a:extLst>
          </p:cNvPr>
          <p:cNvSpPr>
            <a:spLocks noGrp="1"/>
          </p:cNvSpPr>
          <p:nvPr/>
        </p:nvSpPr>
        <p:spPr>
          <a:xfrm>
            <a:off x="4495800" y="3524250"/>
            <a:ext cx="29718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Model NPCs as mechanical mirrors to 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player expressive utility.</a:t>
            </a:r>
            <a:r>
              <a:rPr lang="en-US" sz="1200" b="0" dirty="0">
                <a:solidFill>
                  <a:srgbClr val="FFFFFF"/>
                </a:solidFill>
              </a:rPr>
              <a:t> </a:t>
            </a:r>
            <a:r>
              <a:rPr lang="en-US" sz="1200" dirty="0"/>
              <a:t>You make the Hybrid's variety a tactical necessity, which aligns the game's difficulty with the player's natural desire for expressive play.</a:t>
            </a:r>
            <a:r>
              <a:rPr sz="1200" b="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16CEE4-49B6-4A89-94E0-A100234CFC5A}"/>
              </a:ext>
            </a:extLst>
          </p:cNvPr>
          <p:cNvSpPr>
            <a:spLocks noGrp="1"/>
          </p:cNvSpPr>
          <p:nvPr/>
        </p:nvSpPr>
        <p:spPr>
          <a:xfrm>
            <a:off x="7924800" y="295275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16191D">
              <a:alpha val="96078"/>
            </a:srgbClr>
          </a:solidFill>
          <a:ln w="9525">
            <a:solidFill>
              <a:srgbClr val="D4A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FC4188-F9BE-4F16-949C-8E78A2E4A480}"/>
              </a:ext>
            </a:extLst>
          </p:cNvPr>
          <p:cNvSpPr>
            <a:spLocks noGrp="1"/>
          </p:cNvSpPr>
          <p:nvPr/>
        </p:nvSpPr>
        <p:spPr>
          <a:xfrm>
            <a:off x="7924800" y="3048000"/>
            <a:ext cx="38100" cy="28575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676DEB-1950-44CD-B308-3E92A5706FB6}"/>
              </a:ext>
            </a:extLst>
          </p:cNvPr>
          <p:cNvSpPr>
            <a:spLocks noGrp="1"/>
          </p:cNvSpPr>
          <p:nvPr/>
        </p:nvSpPr>
        <p:spPr>
          <a:xfrm>
            <a:off x="8153400" y="31432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D4AF37"/>
                </a:solidFill>
              </a:defRPr>
            </a:pPr>
            <a:r>
              <a:rPr sz="1050" b="1">
                <a:solidFill>
                  <a:srgbClr val="D4AF37"/>
                </a:solidFill>
              </a:rPr>
              <a:t>FUTURE OPS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72444-D7D6-4314-BDCA-E4CFC9FA6FC5}"/>
              </a:ext>
            </a:extLst>
          </p:cNvPr>
          <p:cNvSpPr>
            <a:spLocks noGrp="1"/>
          </p:cNvSpPr>
          <p:nvPr/>
        </p:nvSpPr>
        <p:spPr>
          <a:xfrm>
            <a:off x="8153400" y="3524250"/>
            <a:ext cx="29718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Track the 'Optimization Drift' to 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signal when a meta becomes too 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efficient.</a:t>
            </a:r>
            <a:r>
              <a:rPr lang="en-US" sz="1200" b="0" dirty="0">
                <a:solidFill>
                  <a:srgbClr val="FFFFFF"/>
                </a:solidFill>
              </a:rPr>
              <a:t> </a:t>
            </a:r>
            <a:r>
              <a:rPr lang="en-US" sz="1200" dirty="0"/>
              <a:t>This allows designers to use our model as an </a:t>
            </a:r>
            <a:r>
              <a:rPr lang="en-US" sz="1200" b="1" dirty="0"/>
              <a:t>early warning system</a:t>
            </a:r>
            <a:r>
              <a:rPr lang="en-US" sz="1200" dirty="0"/>
              <a:t> to see when a game is becoming stale or solved.</a:t>
            </a:r>
            <a:endParaRPr sz="1200" b="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BAB5C9-8479-40A4-B8B9-95855F082A9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750" b="0">
                <a:solidFill>
                  <a:srgbClr val="B0B4B8"/>
                </a:solidFill>
              </a:defRPr>
            </a:pPr>
            <a:r>
              <a:rPr sz="750" b="0">
                <a:solidFill>
                  <a:srgbClr val="B0B4B8"/>
                </a:solidFill>
              </a:rPr>
              <a:t>Behavioral Optimization Model | Strategic Design Portfolio</a:t>
            </a:r>
          </a:p>
        </p:txBody>
      </p:sp>
    </p:spTree>
    <p:extLst>
      <p:ext uri="{BB962C8B-B14F-4D97-AF65-F5344CB8AC3E}">
        <p14:creationId xmlns:p14="http://schemas.microsoft.com/office/powerpoint/2010/main" val="15203858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645</Words>
  <Application>Microsoft Office PowerPoint</Application>
  <DocSecurity>0</DocSecurity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Mann Pawar</cp:lastModifiedBy>
  <cp:revision>2</cp:revision>
  <dcterms:created xsi:type="dcterms:W3CDTF">2026-04-25T04:01:45Z</dcterms:created>
  <dcterms:modified xsi:type="dcterms:W3CDTF">2026-04-25T04:27:42Z</dcterms:modified>
</cp:coreProperties>
</file>